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0287000" cy="10287000"/>
  <p:notesSz cx="6858000" cy="9144000"/>
  <p:embeddedFontLst>
    <p:embeddedFont>
      <p:font typeface="Pretendard Bold"/>
      <p:bold r:id="rId29"/>
    </p:embeddedFont>
    <p:embeddedFont>
      <p:font typeface="Pretendard Regular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1.fntdata" Type="http://schemas.openxmlformats.org/officeDocument/2006/relationships/font"/><Relationship Id="rId3" Target="viewProps.xml" Type="http://schemas.openxmlformats.org/officeDocument/2006/relationships/viewProps"/><Relationship Id="rId30" Target="fonts/font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6.png" Type="http://schemas.openxmlformats.org/officeDocument/2006/relationships/image"/><Relationship Id="rId5" Target="../media/image3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2628900"/>
            <a:ext cx="10464800" cy="5372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57400" y="736600"/>
            <a:ext cx="2654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15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조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팀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프로젝트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673100"/>
            <a:ext cx="11125200" cy="3644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578100" y="8445500"/>
            <a:ext cx="56134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언리얼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슈터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게임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제작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프로젝트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498600" y="-419100"/>
            <a:ext cx="13068300" cy="5727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24100" y="2882900"/>
            <a:ext cx="5664200" cy="646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AutoNum type="arabicPeriod" startAt="1"/>
            </a:pP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프로젝트</a:t>
            </a: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개요</a:t>
            </a:r>
          </a:p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2.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팀원</a:t>
            </a: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분담</a:t>
            </a:r>
          </a:p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3.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프로젝트</a:t>
            </a: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기능</a:t>
            </a:r>
          </a:p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4.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개발</a:t>
            </a: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일정</a:t>
            </a:r>
          </a:p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5.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질의</a:t>
            </a:r>
            <a:r>
              <a:rPr lang="en-US" sz="4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4000" b="false" i="false" u="none" strike="noStrike">
                <a:solidFill>
                  <a:srgbClr val="FFFFFF"/>
                </a:solidFill>
                <a:ea typeface="establish Retrosans"/>
              </a:rPr>
              <a:t>응답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-279400"/>
            <a:ext cx="11036300" cy="5613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81100" y="2959100"/>
            <a:ext cx="8001000" cy="533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프로젝트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명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: TEAM FIFTEEN SQUAD</a:t>
            </a:r>
          </a:p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개발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특징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: </a:t>
            </a:r>
          </a:p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LOL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집중포화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모드를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모티브</a:t>
            </a:r>
          </a:p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뱀서라이크류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게임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제작</a:t>
            </a:r>
          </a:p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, UI, AI,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케릭터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컴포넌트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시스템을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기반</a:t>
            </a:r>
          </a:p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객체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지향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설계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및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협업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기반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개발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469900" y="-279400"/>
            <a:ext cx="12090400" cy="5613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100" y="2628900"/>
            <a:ext cx="10261600" cy="6743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0600" y="5562600"/>
            <a:ext cx="863600" cy="863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79400" y="4038600"/>
            <a:ext cx="22987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300" b="false" i="false" u="none" strike="noStrike" spc="-100">
                <a:solidFill>
                  <a:srgbClr val="64CCC1"/>
                </a:solidFill>
                <a:ea typeface="Pretendard Bold"/>
              </a:rPr>
              <a:t>케릭터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4965700"/>
            <a:ext cx="16256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300" b="false" i="false" u="none" strike="noStrike" spc="-100">
                <a:solidFill>
                  <a:srgbClr val="000000"/>
                </a:solidFill>
                <a:ea typeface="Pretendard Bold"/>
              </a:rPr>
              <a:t>김현수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7200" y="6985000"/>
            <a:ext cx="1943100" cy="838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,  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바인딩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로직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필터링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사용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67100" y="5562600"/>
            <a:ext cx="863600" cy="8636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755900" y="3962400"/>
            <a:ext cx="22987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5300" b="false" i="false" u="none" strike="noStrike" spc="-100">
                <a:solidFill>
                  <a:srgbClr val="7CD1E8"/>
                </a:solidFill>
                <a:latin typeface="Pretendard Bold"/>
              </a:rPr>
              <a:t>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86100" y="4991100"/>
            <a:ext cx="16256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300" b="false" i="false" u="none" strike="noStrike" spc="-100">
                <a:solidFill>
                  <a:srgbClr val="000000"/>
                </a:solidFill>
                <a:ea typeface="Pretendard Bold"/>
              </a:rPr>
              <a:t>차영민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33700" y="6985000"/>
            <a:ext cx="1943100" cy="838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AI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추격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몬스터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제작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캐릭터를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다겟팅해서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몬스터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사운드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제작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애니메이션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제작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943600" y="5562600"/>
            <a:ext cx="863600" cy="863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232400" y="3962400"/>
            <a:ext cx="22987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5300" b="false" i="false" u="none" strike="noStrike" spc="-100">
                <a:solidFill>
                  <a:srgbClr val="6A90D9"/>
                </a:solidFill>
                <a:latin typeface="Pretendard Bold"/>
              </a:rPr>
              <a:t>UI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62600" y="4965700"/>
            <a:ext cx="16256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300" b="false" i="false" u="none" strike="noStrike" spc="-100">
                <a:solidFill>
                  <a:srgbClr val="000000"/>
                </a:solidFill>
                <a:ea typeface="Pretendard Bold"/>
              </a:rPr>
              <a:t>홍성천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97500" y="6883400"/>
            <a:ext cx="19431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UI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디자인</a:t>
            </a:r>
            <a:b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</a:b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(bar,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), 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UI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랜덤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로비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레벨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디자인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패시브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캐릭터에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20100" y="5562600"/>
            <a:ext cx="863600" cy="8636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7708900" y="4000500"/>
            <a:ext cx="22860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5000" b="false" i="false" u="none" strike="noStrike" spc="-100">
                <a:solidFill>
                  <a:srgbClr val="D980C7"/>
                </a:solidFill>
                <a:latin typeface="Pretendard Bold"/>
              </a:rPr>
              <a:t>Skill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39100" y="4965700"/>
            <a:ext cx="16256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300" b="false" i="false" u="none" strike="noStrike" spc="-100">
                <a:solidFill>
                  <a:srgbClr val="000000"/>
                </a:solidFill>
                <a:ea typeface="Pretendard Bold"/>
              </a:rPr>
              <a:t>조무현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74000" y="6985000"/>
            <a:ext cx="1943100" cy="838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300" b="false" i="false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>
                <a:solidFill>
                  <a:srgbClr val="000000"/>
                </a:solidFill>
                <a:ea typeface="Pretendard Regular"/>
              </a:rPr>
              <a:t>디렉팅</a:t>
            </a:r>
            <a:r>
              <a:rPr lang="en-US" sz="1300" b="false" i="false" u="none" strike="noStrike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인디케이터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패시브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액티브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스킬</a:t>
            </a:r>
          </a:p>
          <a:p>
            <a:pPr algn="ctr" lvl="0">
              <a:lnSpc>
                <a:spcPct val="99600"/>
              </a:lnSpc>
            </a:pP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1300" b="false" i="false" u="none" strike="noStrike" spc="-10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false" i="false" u="none" strike="noStrike" spc="-100">
                <a:solidFill>
                  <a:srgbClr val="000000"/>
                </a:solidFill>
                <a:ea typeface="Pretendard Regular"/>
              </a:rPr>
              <a:t>인벤토리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965200"/>
            <a:ext cx="12128500" cy="4864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4127500"/>
            <a:ext cx="8001000" cy="373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1. Character</a:t>
            </a:r>
          </a:p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2. AI</a:t>
            </a:r>
          </a:p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3. UI</a:t>
            </a:r>
          </a:p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4. Skill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603500" y="1371600"/>
            <a:ext cx="17818100" cy="909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1892300"/>
            <a:ext cx="7264400" cy="6489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31800" y="444500"/>
            <a:ext cx="3683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Character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1800" y="1295400"/>
            <a:ext cx="4826000" cy="2260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31800" y="4000500"/>
            <a:ext cx="4864100" cy="314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31800" y="7366000"/>
            <a:ext cx="4864100" cy="2654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31800" y="444500"/>
            <a:ext cx="3683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Character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48300" y="1308100"/>
            <a:ext cx="4572000" cy="1022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캐릭터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Enhanced Input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기반으로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캐릭터의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모든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입력을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바인딩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캐릭터는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공격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로직을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직접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갖지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않고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AutoAttackComponent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위임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사용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시각적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지표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(Indicator)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활성화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실제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처리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호출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UI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기능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로직이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분리된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구조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→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독립성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확보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스탯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/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마나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관리는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StatsComponent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전적으로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위임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2019300"/>
            <a:ext cx="4826000" cy="3784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96900" y="6692900"/>
            <a:ext cx="4864100" cy="1562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31800" y="444500"/>
            <a:ext cx="4965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AutoAttackComponent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19800" y="2032000"/>
            <a:ext cx="4140200" cy="800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공격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컴포넌트</a:t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AutoAttackComponent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는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공격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딜레이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,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발사체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생성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,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애니메이션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트리거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등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모든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공격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관련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책임을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집중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관리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타겟팅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필터링</a:t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IsDead()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를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체크하여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사망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몬스터를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타겟팅에서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필터링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투사체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간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충돌을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무시하여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버그를</a:t>
            </a: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true" i="false" u="none" strike="noStrike">
                <a:solidFill>
                  <a:srgbClr val="FFFFFF"/>
                </a:solidFill>
                <a:ea typeface="establish Retrosans"/>
              </a:rPr>
              <a:t>방지</a:t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tru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651500" y="1371600"/>
            <a:ext cx="20929600" cy="911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4000" y="1143000"/>
            <a:ext cx="5308600" cy="8013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89000" y="25400"/>
            <a:ext cx="8509000" cy="939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300" b="false" i="false" u="none" strike="noStrike">
                <a:solidFill>
                  <a:srgbClr val="FFFFFF"/>
                </a:solidFill>
                <a:latin typeface="establish Retrosans"/>
              </a:rPr>
              <a:t>Monster Controller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89600" y="3746500"/>
            <a:ext cx="44196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몬스터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컨트롤러</a:t>
            </a:r>
          </a:p>
          <a:p>
            <a:pPr algn="l" lvl="0">
              <a:lnSpc>
                <a:spcPct val="116199"/>
              </a:lnSpc>
            </a:pP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 indent="-342900" marL="342900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네비게이션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맵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위에있는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플레이어를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찾는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기능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 indent="-342900" marL="342900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한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번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이동을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지시</a:t>
            </a:r>
          </a:p>
          <a:p>
            <a:pPr algn="l" lvl="0">
              <a:lnSpc>
                <a:spcPct val="116199"/>
              </a:lnSpc>
            </a:pP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 indent="-342900" marL="342900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0.5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초마다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UpdateChaseLoop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를</a:t>
            </a: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1700" b="false" i="false" u="none" strike="noStrike">
                <a:solidFill>
                  <a:srgbClr val="FFFFFF"/>
                </a:solidFill>
                <a:ea typeface="establish Retrosans"/>
              </a:rPr>
              <a:t>실행한다</a:t>
            </a:r>
          </a:p>
          <a:p>
            <a:pPr algn="l" lvl="0">
              <a:lnSpc>
                <a:spcPct val="116199"/>
              </a:lnSpc>
            </a:pPr>
            <a:r>
              <a:rPr lang="en-US" sz="17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8600" y="1117600"/>
            <a:ext cx="6172200" cy="8382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04900" y="25400"/>
            <a:ext cx="8521700" cy="939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300" b="false" i="false" u="none" strike="noStrike">
                <a:solidFill>
                  <a:srgbClr val="FFFFFF"/>
                </a:solidFill>
                <a:latin typeface="establish Retrosans"/>
              </a:rPr>
              <a:t>Monster Controller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00800" y="3835400"/>
            <a:ext cx="3860800" cy="410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UpDateChaseLoop</a:t>
            </a:r>
          </a:p>
          <a:p>
            <a:pPr algn="l" lvl="1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 indent="-342900" marL="342900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몬스터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/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플레이어가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없거나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죽었을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경우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루프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종료</a:t>
            </a:r>
          </a:p>
          <a:p>
            <a:pPr algn="l" lvl="1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 indent="-342900" marL="342900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몬스터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공격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사거리가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플레이어에게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공격할수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있을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경우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공격</a:t>
            </a:r>
          </a:p>
          <a:p>
            <a:pPr algn="l" lvl="1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 indent="-342900" marL="342900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공격이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불가능할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경우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플레이어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추격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OR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몬스터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사망</a:t>
            </a:r>
            <a:r>
              <a:rPr lang="en-US" sz="21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처리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676900" y="1371600"/>
            <a:ext cx="20891500" cy="911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800" y="1435100"/>
            <a:ext cx="5257800" cy="313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800" y="6819900"/>
            <a:ext cx="5257800" cy="3187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100" y="4813300"/>
            <a:ext cx="5334000" cy="1587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7800" y="444500"/>
            <a:ext cx="38608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SKill UI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 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선택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6400" y="1447800"/>
            <a:ext cx="5016500" cy="844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인벤토리에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있는지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확인하고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있다면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최대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스택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도달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여부를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검사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슬롯이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가득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찼지만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Max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아니면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선택창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표시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슬롯에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여유가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있으면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모든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표시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FMath::RandBool()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함수를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활용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true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50%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확률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false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50%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반환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액티브랑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패시브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랜덤으로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선택하도록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구현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1879600"/>
            <a:ext cx="50927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2600" y="5905500"/>
            <a:ext cx="5092700" cy="3670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2600" y="444500"/>
            <a:ext cx="38608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SKill UI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 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선택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89600" y="1892300"/>
            <a:ext cx="4622800" cy="711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새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스킬이면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DataAsset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기본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스택을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표시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이미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인벤토리에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있는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스킬이면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현재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스택에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+1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표시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단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, MaxStackCnt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초과하지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않도록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제한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SetText, SetBrushFromtexture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을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활용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이름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아이콘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설명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스택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UI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위젯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갱신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20700" y="7086600"/>
            <a:ext cx="5029200" cy="243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0700" y="1181100"/>
            <a:ext cx="5029200" cy="5245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2600" y="444500"/>
            <a:ext cx="38608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SKill UI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 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선택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4700" y="2413000"/>
            <a:ext cx="4470400" cy="711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새로운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들어오면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인벤토리를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확인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스택을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+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해줄지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말지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, 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새로운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슬롯에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저장할지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말지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결정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같은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타입이면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스택을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올리고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없으면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새로운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패시브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추가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단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슬롯은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4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개로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제한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FInterpTo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활용하여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MP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떨어질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자연스럽게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보이도록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구현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1206500"/>
            <a:ext cx="7912100" cy="4432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" y="6083300"/>
            <a:ext cx="7899400" cy="3860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92100" y="444500"/>
            <a:ext cx="38608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SKill UI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선택</a:t>
            </a: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establish Retrosans"/>
              </a:rPr>
              <a:t>창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041900" y="1371600"/>
            <a:ext cx="20345400" cy="909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041900" y="1371600"/>
            <a:ext cx="20345400" cy="909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816100" y="1676400"/>
            <a:ext cx="10248900" cy="775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31800" y="444500"/>
            <a:ext cx="3683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Skill System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rot="0">
            <a:off x="2032000" y="8051800"/>
            <a:ext cx="2413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4800" y="1231900"/>
            <a:ext cx="5549900" cy="8547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019800" y="2032000"/>
            <a:ext cx="4140200" cy="666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관리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여러가지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패시브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스킬을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관리하기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위해서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enum 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클래스를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사용해서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여러개의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스킬을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동시에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적용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시키는것을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구현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각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스킬마다의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세부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사항을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구조체를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통해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데이터를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저장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이후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데이터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에셋을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통해서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통합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관리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하며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다른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시스템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에서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사용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하기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편하게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구현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4000" y="1447800"/>
            <a:ext cx="5562600" cy="8229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31800" y="444500"/>
            <a:ext cx="3683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Skill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70600" y="2514600"/>
            <a:ext cx="4114800" cy="577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패시브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각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타입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별로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나누어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획득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시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해당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타입에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맞는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능력치를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획득하게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구현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추후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미구현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,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추가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구현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경우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최적화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단계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필요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스위치를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통해서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플레이어가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선택한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스킬을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타입으로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찾아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타입에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맞는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능력을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상승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1800" y="1181100"/>
            <a:ext cx="5016500" cy="4267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31800" y="5448300"/>
            <a:ext cx="6172200" cy="4432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31800" y="444500"/>
            <a:ext cx="3683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establish Retrosans"/>
              </a:rPr>
              <a:t>Skill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0700" y="2120900"/>
            <a:ext cx="4381500" cy="666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모든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스킬들의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정보가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저장되는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데이터에셋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제작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각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정보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값을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담고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있는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변수들을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한번에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모아두어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다른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시스템에서도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데이터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에셋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하나로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불러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가기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편하게</a:t>
            </a:r>
            <a:r>
              <a:rPr lang="en-US" sz="2500" b="false" i="false" u="none" strike="noStrike">
                <a:solidFill>
                  <a:srgbClr val="FFCD4A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CD4A"/>
                </a:solidFill>
                <a:ea typeface="establish Retrosans"/>
              </a:rPr>
              <a:t>구현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이후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추가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되는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관리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편리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스킬의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스택에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따른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능력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상승</a:t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또한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여기서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관리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되기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때문에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밸런스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패치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시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수정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보완</a:t>
            </a: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establish Retrosans"/>
              </a:rPr>
              <a:t>편리</a:t>
            </a:r>
          </a:p>
          <a:p>
            <a:pPr algn="l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establish Retrosans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619500" y="1625600"/>
            <a:ext cx="19024600" cy="8864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0287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0">
            <a:off x="1511300" y="0"/>
            <a:ext cx="72771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-960000">
            <a:off x="850900" y="88900"/>
            <a:ext cx="43688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644900" y="1625600"/>
            <a:ext cx="19024600" cy="8864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822700" y="6565900"/>
            <a:ext cx="2654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FFFFFF"/>
                </a:solidFill>
                <a:ea typeface="establish Retrosans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